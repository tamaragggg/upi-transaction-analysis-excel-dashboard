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UPI Reliability Intelligence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 Transaction Activity Across Apps, Banks &amp; Networks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95650"/>
            <a:ext cx="8046720" cy="499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 </a:t>
            </a:r>
            <a:endParaRPr lang="en-US" sz="1300" dirty="0">
              <a:solidFill>
                <a:srgbClr val="CBD5E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Mayank Aaswani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UPI has transformed digital payments in India. Millions of users perform transactions every 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11680"/>
            <a:ext cx="1828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📱
</a:t>
            </a:r>
            <a:endParaRPr lang="en-US" sz="2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Apps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0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2011680"/>
            <a:ext cx="1828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🏦
</a:t>
            </a:r>
            <a:endParaRPr lang="en-US" sz="2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200400"/>
            <a:ext cx="1828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📡
</a:t>
            </a:r>
            <a:endParaRPr lang="en-US" sz="2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560320" y="32004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3200400"/>
            <a:ext cx="1828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💻
</a:t>
            </a:r>
            <a:endParaRPr lang="en-US" sz="2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23444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 transaction activity helps organizations understand: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874520"/>
            <a:ext cx="347472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Usage patterns across platforms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 performance metrics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success and failure trends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activity time windows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institutions process a large number of UPI transactions daily. Without monitoring tools, it becomes difficult to understand: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5603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01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Hours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transaction activity is highest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5603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874520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901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Usage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payment apps are most used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25603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874520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901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 Volume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28600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banks handle the highest volume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5603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91840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1927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Split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transactions vary across networks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3291840"/>
            <a:ext cx="25603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291840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31927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70332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success and failure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Create an interactive Excel dashboard to monitor UPI transaction activity and outcomes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Questions Answered: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450592"/>
            <a:ext cx="7680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payment apps process the most transactions?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9864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986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7680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banks handle the highest transaction volume?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74136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7413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401568"/>
            <a:ext cx="7680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During which hours is transaction activity highest?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9624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962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877056"/>
            <a:ext cx="7680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are transactions distributed across networks?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25112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2511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352544"/>
            <a:ext cx="7680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overall success and failure distribution?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Size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657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250,000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UPI Transactions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05156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Attributes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50876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508760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150876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1508760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258568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258568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258568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2258568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008376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3008376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Type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3008376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3008376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 Type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758184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3758184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Amount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3758184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3758184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Status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43200" cy="37947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🧹 Data Cleaning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46888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duplicates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Checked missing values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Standardized categories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743200" cy="37947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5156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5156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Feature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46888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&amp; Quarter fields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Amount Range buckets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Time-Based Analysis Fields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743200" cy="37947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5156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5156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🛠 Tools Used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783080"/>
            <a:ext cx="246888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Microsoft Excel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 Tables &amp; Charts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Design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3383280"/>
          </a:xfrm>
          <a:prstGeom prst="roundRect">
            <a:avLst>
              <a:gd name="adj" fmla="val 2703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0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Dashboard Screenshot Here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0" y="100584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KPI Cards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360043"/>
            <a:ext cx="3017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IN" altLang="en-US"/>
          </a:p>
        </p:txBody>
      </p:sp>
      <p:sp>
        <p:nvSpPr>
          <p:cNvPr id="8" name="Text 6"/>
          <p:cNvSpPr/>
          <p:nvPr/>
        </p:nvSpPr>
        <p:spPr>
          <a:xfrm>
            <a:off x="5806440" y="1417320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Transactions</a:t>
            </a:r>
            <a:r>
              <a:rPr lang="en-IN" alt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</a:t>
            </a:r>
            <a:r>
              <a:rPr lang="en-IN" altLang="en-US" sz="1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25,0000</a:t>
            </a:r>
            <a:endParaRPr lang="en-IN" altLang="en-US" sz="1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06440" y="1801368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 Txns</a:t>
            </a:r>
            <a:r>
              <a:rPr lang="en-IN" alt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</a:t>
            </a:r>
            <a:r>
              <a:rPr lang="en-IN" altLang="en-US" sz="1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237624</a:t>
            </a:r>
            <a:endParaRPr lang="en-IN" altLang="en-US" sz="1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06440" y="2185416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Failed Txns</a:t>
            </a:r>
            <a:r>
              <a:rPr lang="en-IN" alt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</a:t>
            </a:r>
            <a:r>
              <a:rPr lang="en-IN" altLang="en-US" sz="1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12376</a:t>
            </a:r>
            <a:r>
              <a:rPr lang="en-IN" alt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	</a:t>
            </a:r>
            <a:endParaRPr lang="en-IN" altLang="en-US" sz="1400" b="1" dirty="0">
              <a:solidFill>
                <a:srgbClr val="0D948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06440" y="2569464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Rate</a:t>
            </a:r>
            <a:r>
              <a:rPr lang="en-IN" alt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</a:t>
            </a:r>
            <a:r>
              <a:rPr lang="en-IN" altLang="en-US" sz="1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95.05%</a:t>
            </a:r>
            <a:endParaRPr lang="en-IN" altLang="en-US" sz="1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63590" y="3040507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 Rate</a:t>
            </a:r>
            <a:r>
              <a:rPr lang="en-IN" alt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</a:t>
            </a:r>
            <a:r>
              <a:rPr lang="en-IN" altLang="en-US" sz="1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4.95%</a:t>
            </a:r>
            <a:endParaRPr lang="en-IN" altLang="en-US" sz="1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69280" y="333756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Visual Components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365760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Txn Activity by Hour, App, Bank, Network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vs Failure Distribution</a:t>
            </a:r>
            <a:endParaRPr lang="en-US" sz="1000" dirty="0"/>
          </a:p>
        </p:txBody>
      </p:sp>
      <p:pic>
        <p:nvPicPr>
          <p:cNvPr id="19" name="Picture 18" descr="Screenshot 2026-06-18 0229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" y="865505"/>
            <a:ext cx="5478780" cy="3615055"/>
          </a:xfrm>
          <a:prstGeom prst="rect">
            <a:avLst/>
          </a:prstGeom>
        </p:spPr>
      </p:pic>
      <p:sp>
        <p:nvSpPr>
          <p:cNvPr id="24" name="Text Box 23"/>
          <p:cNvSpPr txBox="1"/>
          <p:nvPr/>
        </p:nvSpPr>
        <p:spPr>
          <a:xfrm>
            <a:off x="5711190" y="13970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25" name="Shape 5"/>
          <p:cNvSpPr/>
          <p:nvPr/>
        </p:nvSpPr>
        <p:spPr>
          <a:xfrm>
            <a:off x="5532120" y="2125853"/>
            <a:ext cx="3017520" cy="320040"/>
          </a:xfrm>
          <a:prstGeom prst="roundRect">
            <a:avLst>
              <a:gd name="adj" fmla="val 17143"/>
            </a:avLst>
          </a:prstGeom>
          <a:noFill/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IN" altLang="en-US"/>
          </a:p>
        </p:txBody>
      </p:sp>
      <p:sp>
        <p:nvSpPr>
          <p:cNvPr id="26" name="Shape 5"/>
          <p:cNvSpPr/>
          <p:nvPr/>
        </p:nvSpPr>
        <p:spPr>
          <a:xfrm>
            <a:off x="5532120" y="2971673"/>
            <a:ext cx="3017520" cy="320040"/>
          </a:xfrm>
          <a:prstGeom prst="roundRect">
            <a:avLst>
              <a:gd name="adj" fmla="val 17143"/>
            </a:avLst>
          </a:prstGeom>
          <a:noFill/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IN" altLang="en-US"/>
          </a:p>
        </p:txBody>
      </p:sp>
      <p:sp>
        <p:nvSpPr>
          <p:cNvPr id="27" name="Text Box 26"/>
          <p:cNvSpPr txBox="1"/>
          <p:nvPr/>
        </p:nvSpPr>
        <p:spPr>
          <a:xfrm>
            <a:off x="5532120" y="25133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28" name="Shape 5"/>
          <p:cNvSpPr/>
          <p:nvPr/>
        </p:nvSpPr>
        <p:spPr>
          <a:xfrm>
            <a:off x="5486400" y="1769618"/>
            <a:ext cx="3017520" cy="320040"/>
          </a:xfrm>
          <a:prstGeom prst="roundRect">
            <a:avLst>
              <a:gd name="adj" fmla="val 17143"/>
            </a:avLst>
          </a:prstGeom>
          <a:noFill/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IN" altLang="en-US"/>
          </a:p>
        </p:txBody>
      </p:sp>
      <p:sp>
        <p:nvSpPr>
          <p:cNvPr id="29" name="Shape 5"/>
          <p:cNvSpPr/>
          <p:nvPr/>
        </p:nvSpPr>
        <p:spPr>
          <a:xfrm>
            <a:off x="5532120" y="2567178"/>
            <a:ext cx="3017520" cy="320040"/>
          </a:xfrm>
          <a:prstGeom prst="roundRect">
            <a:avLst>
              <a:gd name="adj" fmla="val 17143"/>
            </a:avLst>
          </a:prstGeom>
          <a:noFill/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I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8988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161288"/>
            <a:ext cx="3291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total of 250,000 transactions were analyzed across all apps and banks.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937760" y="105156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74920" y="138988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38988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1161288"/>
            <a:ext cx="3291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transaction success rate is approximately 95%.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68833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8833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459736"/>
            <a:ext cx="3291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activity peaks during evening hours — highest user engagement.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2350008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74920" y="268833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68833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2459736"/>
            <a:ext cx="3291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PhonePe and Google Pay account for the largest transaction volumes.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648456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98678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8678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758184"/>
            <a:ext cx="3291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SBI handles the highest transaction volume among all banks in the dataset.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37760" y="3648456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74920" y="398678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98678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3758184"/>
            <a:ext cx="3291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4G users account for the highest transaction activity among network types.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Value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dashboard helps stakeholders: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64208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Transaction Activity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50592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visibility into transaction volumes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664208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2084832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Operational Performance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450592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tracking for success and failure rates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664208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084832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User Behavior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450592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Insights into app preferences and device usage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264408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3685032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Observe Transaction Trends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050792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Time-based patterns and peak hour analysis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1546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264408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83280" y="3685032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 Decisions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4050792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Evidence-backed strategies for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versions of this project can include: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 Rate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087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6459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5087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6459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219456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State-wise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15468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🔮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301752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315468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383280" y="370332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Implementation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01752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315468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17920" y="370332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Models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5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Acknowledging limitations shows analytical maturity and awareness of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dashboard successfully provides visibility into transaction activity across Payment Apps, Banks, Networks &amp; Time Periods.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8600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783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Monitoring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10128"/>
            <a:ext cx="1783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visibility across all dimensions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33472" y="21488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33472" y="228600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24912" y="2834640"/>
            <a:ext cx="1783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App-Level Insights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24912" y="3310128"/>
            <a:ext cx="1783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App-wise volume and performance breakdown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21488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9744" y="228600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01184" y="2834640"/>
            <a:ext cx="1783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 Performance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01184" y="3310128"/>
            <a:ext cx="1783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Volume analysis by banking partner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86016" y="21488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86016" y="228600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77456" y="2834640"/>
            <a:ext cx="1783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Time-Based Trends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77456" y="3310128"/>
            <a:ext cx="1783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hour and period activity tracking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demonstrates how Excel dashboards can analyze large-scale digital payment data effectively.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91440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280160"/>
            <a:ext cx="5486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5146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Mayank Aaswani  |  BCA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2926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UPI Reliability Intelligence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3564</Words>
  <Application>WPS Presentation</Application>
  <PresentationFormat>On-screen Show (16:9)</PresentationFormat>
  <Paragraphs>281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UPI Reliability Intelligence Dashboard</dc:title>
  <dc:creator>PptxGenJS</dc:creator>
  <dc:subject>PptxGenJS Presentation</dc:subject>
  <cp:lastModifiedBy>Mayank Aaswani</cp:lastModifiedBy>
  <cp:revision>5</cp:revision>
  <dcterms:created xsi:type="dcterms:W3CDTF">2026-06-17T21:37:00Z</dcterms:created>
  <dcterms:modified xsi:type="dcterms:W3CDTF">2026-07-05T06:45:07Z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0AE6017B5BD9448FBE770F7E8E52ECA3_13</vt:lpwstr>
  </property>
  <property fmtid="{D5CDD505-2E9C-101B-9397-08002B2CF9AE}" pid="3" name="KSOProductBuildVer">
    <vt:lpwstr>1033-12.1.0.26880</vt:lpwstr>
  </property>
</Properties>
</file>